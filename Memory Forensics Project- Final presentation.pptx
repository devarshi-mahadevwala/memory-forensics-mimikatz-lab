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790922-550D-4479-A996-74B03FB4506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0431074-EE78-4578-93E1-37DAA828B2AA}">
      <dgm:prSet/>
      <dgm:spPr/>
      <dgm:t>
        <a:bodyPr/>
        <a:lstStyle/>
        <a:p>
          <a:pPr>
            <a:defRPr cap="all"/>
          </a:pPr>
          <a:r>
            <a:rPr lang="en-US" b="0" i="0" baseline="0"/>
            <a:t>Multi-stage memory capture reveals full attack lifecycle</a:t>
          </a:r>
          <a:endParaRPr lang="en-US"/>
        </a:p>
      </dgm:t>
    </dgm:pt>
    <dgm:pt modelId="{3BEB085E-5DB8-4C3D-8A49-0506BE33D43D}" type="parTrans" cxnId="{D9C2E7D3-CE5F-4982-9306-2B822DA39078}">
      <dgm:prSet/>
      <dgm:spPr/>
      <dgm:t>
        <a:bodyPr/>
        <a:lstStyle/>
        <a:p>
          <a:endParaRPr lang="en-US"/>
        </a:p>
      </dgm:t>
    </dgm:pt>
    <dgm:pt modelId="{D877BF9C-79B0-4C06-9E9A-BA9C96151386}" type="sibTrans" cxnId="{D9C2E7D3-CE5F-4982-9306-2B822DA39078}">
      <dgm:prSet/>
      <dgm:spPr/>
      <dgm:t>
        <a:bodyPr/>
        <a:lstStyle/>
        <a:p>
          <a:endParaRPr lang="en-US"/>
        </a:p>
      </dgm:t>
    </dgm:pt>
    <dgm:pt modelId="{D67479A9-B375-40E1-8720-3ED890E3670B}">
      <dgm:prSet/>
      <dgm:spPr/>
      <dgm:t>
        <a:bodyPr/>
        <a:lstStyle/>
        <a:p>
          <a:pPr>
            <a:defRPr cap="all"/>
          </a:pPr>
          <a:r>
            <a:rPr lang="en-US" b="0" i="0" baseline="0"/>
            <a:t>Handles + DLLs often expose more than process lists</a:t>
          </a:r>
          <a:endParaRPr lang="en-US"/>
        </a:p>
      </dgm:t>
    </dgm:pt>
    <dgm:pt modelId="{3606295E-2DDD-4033-89D9-23CE87C5E011}" type="parTrans" cxnId="{48760F69-A5BE-4406-A082-01FD96A8A9E8}">
      <dgm:prSet/>
      <dgm:spPr/>
      <dgm:t>
        <a:bodyPr/>
        <a:lstStyle/>
        <a:p>
          <a:endParaRPr lang="en-US"/>
        </a:p>
      </dgm:t>
    </dgm:pt>
    <dgm:pt modelId="{0A775BDF-8559-4364-AE1E-FE3B4524BA0E}" type="sibTrans" cxnId="{48760F69-A5BE-4406-A082-01FD96A8A9E8}">
      <dgm:prSet/>
      <dgm:spPr/>
      <dgm:t>
        <a:bodyPr/>
        <a:lstStyle/>
        <a:p>
          <a:endParaRPr lang="en-US"/>
        </a:p>
      </dgm:t>
    </dgm:pt>
    <dgm:pt modelId="{FCFA5DC5-D07E-4A44-8D0A-97624CFF34C1}">
      <dgm:prSet/>
      <dgm:spPr/>
      <dgm:t>
        <a:bodyPr/>
        <a:lstStyle/>
        <a:p>
          <a:pPr>
            <a:defRPr cap="all"/>
          </a:pPr>
          <a:r>
            <a:rPr lang="en-US" b="0" i="0" baseline="0"/>
            <a:t>LSASS access always leaves forensic evidence</a:t>
          </a:r>
          <a:endParaRPr lang="en-US"/>
        </a:p>
      </dgm:t>
    </dgm:pt>
    <dgm:pt modelId="{DEF8C2F6-CFFA-4C16-A4BC-2BAB6C3D77EE}" type="parTrans" cxnId="{1D8BC60D-6E1B-4C96-BD43-01AC639D4BB6}">
      <dgm:prSet/>
      <dgm:spPr/>
      <dgm:t>
        <a:bodyPr/>
        <a:lstStyle/>
        <a:p>
          <a:endParaRPr lang="en-US"/>
        </a:p>
      </dgm:t>
    </dgm:pt>
    <dgm:pt modelId="{1CDF169E-BF2A-44E6-9123-1BDEB6E43E88}" type="sibTrans" cxnId="{1D8BC60D-6E1B-4C96-BD43-01AC639D4BB6}">
      <dgm:prSet/>
      <dgm:spPr/>
      <dgm:t>
        <a:bodyPr/>
        <a:lstStyle/>
        <a:p>
          <a:endParaRPr lang="en-US"/>
        </a:p>
      </dgm:t>
    </dgm:pt>
    <dgm:pt modelId="{B0DA367B-F04D-490B-A2E0-513A0F327CD3}">
      <dgm:prSet/>
      <dgm:spPr/>
      <dgm:t>
        <a:bodyPr/>
        <a:lstStyle/>
        <a:p>
          <a:pPr>
            <a:defRPr cap="all"/>
          </a:pPr>
          <a:r>
            <a:rPr lang="en-US" b="0" i="0" baseline="0"/>
            <a:t>Memory forensics essential when attackers clean up tools</a:t>
          </a:r>
          <a:endParaRPr lang="en-US"/>
        </a:p>
      </dgm:t>
    </dgm:pt>
    <dgm:pt modelId="{97C70270-E56B-4CEB-A7B0-FDF0C333CA83}" type="parTrans" cxnId="{08D18343-1B2C-4575-9930-C43F9675EE8F}">
      <dgm:prSet/>
      <dgm:spPr/>
      <dgm:t>
        <a:bodyPr/>
        <a:lstStyle/>
        <a:p>
          <a:endParaRPr lang="en-US"/>
        </a:p>
      </dgm:t>
    </dgm:pt>
    <dgm:pt modelId="{C2519709-B5A1-4182-80D4-40388C490148}" type="sibTrans" cxnId="{08D18343-1B2C-4575-9930-C43F9675EE8F}">
      <dgm:prSet/>
      <dgm:spPr/>
      <dgm:t>
        <a:bodyPr/>
        <a:lstStyle/>
        <a:p>
          <a:endParaRPr lang="en-US"/>
        </a:p>
      </dgm:t>
    </dgm:pt>
    <dgm:pt modelId="{38BEC3D2-3DC2-4B60-8B6C-BAC2236235BD}">
      <dgm:prSet/>
      <dgm:spPr/>
      <dgm:t>
        <a:bodyPr/>
        <a:lstStyle/>
        <a:p>
          <a:pPr>
            <a:defRPr cap="all"/>
          </a:pPr>
          <a:r>
            <a:rPr lang="en-US" b="0" i="0" baseline="0"/>
            <a:t>Volatility 3 required for modern Windows OS structures</a:t>
          </a:r>
          <a:endParaRPr lang="en-US"/>
        </a:p>
      </dgm:t>
    </dgm:pt>
    <dgm:pt modelId="{678980AF-3D6C-4661-A8A4-0EB18BD77FAE}" type="parTrans" cxnId="{E3943148-4FAC-4F77-8584-B1487E613988}">
      <dgm:prSet/>
      <dgm:spPr/>
      <dgm:t>
        <a:bodyPr/>
        <a:lstStyle/>
        <a:p>
          <a:endParaRPr lang="en-US"/>
        </a:p>
      </dgm:t>
    </dgm:pt>
    <dgm:pt modelId="{480B3AAD-9F11-499C-BAA8-19343A478202}" type="sibTrans" cxnId="{E3943148-4FAC-4F77-8584-B1487E613988}">
      <dgm:prSet/>
      <dgm:spPr/>
      <dgm:t>
        <a:bodyPr/>
        <a:lstStyle/>
        <a:p>
          <a:endParaRPr lang="en-US"/>
        </a:p>
      </dgm:t>
    </dgm:pt>
    <dgm:pt modelId="{BAD677BE-3E78-4708-AACC-3A540C175FFC}" type="pres">
      <dgm:prSet presAssocID="{24790922-550D-4479-A996-74B03FB4506A}" presName="root" presStyleCnt="0">
        <dgm:presLayoutVars>
          <dgm:dir/>
          <dgm:resizeHandles val="exact"/>
        </dgm:presLayoutVars>
      </dgm:prSet>
      <dgm:spPr/>
    </dgm:pt>
    <dgm:pt modelId="{29B200A0-4E20-49F7-B1C5-8ABF1C9D984A}" type="pres">
      <dgm:prSet presAssocID="{50431074-EE78-4578-93E1-37DAA828B2AA}" presName="compNode" presStyleCnt="0"/>
      <dgm:spPr/>
    </dgm:pt>
    <dgm:pt modelId="{E0C9D29C-2618-4F14-AECA-0DDEC4A2A700}" type="pres">
      <dgm:prSet presAssocID="{50431074-EE78-4578-93E1-37DAA828B2AA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BC05E46-754B-49B2-8B4A-AB96233444F1}" type="pres">
      <dgm:prSet presAssocID="{50431074-EE78-4578-93E1-37DAA828B2A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4B9B988-6F0E-4CDC-98FE-2CD56A410B0E}" type="pres">
      <dgm:prSet presAssocID="{50431074-EE78-4578-93E1-37DAA828B2AA}" presName="spaceRect" presStyleCnt="0"/>
      <dgm:spPr/>
    </dgm:pt>
    <dgm:pt modelId="{655A1A06-5C84-48C2-B42E-47A1D3BEF3F9}" type="pres">
      <dgm:prSet presAssocID="{50431074-EE78-4578-93E1-37DAA828B2AA}" presName="textRect" presStyleLbl="revTx" presStyleIdx="0" presStyleCnt="5">
        <dgm:presLayoutVars>
          <dgm:chMax val="1"/>
          <dgm:chPref val="1"/>
        </dgm:presLayoutVars>
      </dgm:prSet>
      <dgm:spPr/>
    </dgm:pt>
    <dgm:pt modelId="{BA19518A-3F04-42FA-83E0-21D30FB53EB8}" type="pres">
      <dgm:prSet presAssocID="{D877BF9C-79B0-4C06-9E9A-BA9C96151386}" presName="sibTrans" presStyleCnt="0"/>
      <dgm:spPr/>
    </dgm:pt>
    <dgm:pt modelId="{F7F9852E-3877-4CCC-A1C9-B811DE95544D}" type="pres">
      <dgm:prSet presAssocID="{D67479A9-B375-40E1-8720-3ED890E3670B}" presName="compNode" presStyleCnt="0"/>
      <dgm:spPr/>
    </dgm:pt>
    <dgm:pt modelId="{EF1087FA-C2D8-4293-8706-5EDF213CCB48}" type="pres">
      <dgm:prSet presAssocID="{D67479A9-B375-40E1-8720-3ED890E3670B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3F88A31-3BE0-4247-A520-B70779B8ADE5}" type="pres">
      <dgm:prSet presAssocID="{D67479A9-B375-40E1-8720-3ED890E3670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7692B2F-E7E2-4669-B3F9-F4A6B12A95E8}" type="pres">
      <dgm:prSet presAssocID="{D67479A9-B375-40E1-8720-3ED890E3670B}" presName="spaceRect" presStyleCnt="0"/>
      <dgm:spPr/>
    </dgm:pt>
    <dgm:pt modelId="{C9F4B5ED-FAE1-438F-836F-7A023EE7A9A5}" type="pres">
      <dgm:prSet presAssocID="{D67479A9-B375-40E1-8720-3ED890E3670B}" presName="textRect" presStyleLbl="revTx" presStyleIdx="1" presStyleCnt="5">
        <dgm:presLayoutVars>
          <dgm:chMax val="1"/>
          <dgm:chPref val="1"/>
        </dgm:presLayoutVars>
      </dgm:prSet>
      <dgm:spPr/>
    </dgm:pt>
    <dgm:pt modelId="{1F728725-CCEE-4B96-95C8-AC4E51D4314E}" type="pres">
      <dgm:prSet presAssocID="{0A775BDF-8559-4364-AE1E-FE3B4524BA0E}" presName="sibTrans" presStyleCnt="0"/>
      <dgm:spPr/>
    </dgm:pt>
    <dgm:pt modelId="{601D2078-A4FF-4740-916A-A9C2E908C9C5}" type="pres">
      <dgm:prSet presAssocID="{FCFA5DC5-D07E-4A44-8D0A-97624CFF34C1}" presName="compNode" presStyleCnt="0"/>
      <dgm:spPr/>
    </dgm:pt>
    <dgm:pt modelId="{82DE6C44-8DD6-439D-BB04-B01251C17ABE}" type="pres">
      <dgm:prSet presAssocID="{FCFA5DC5-D07E-4A44-8D0A-97624CFF34C1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48E553A-6FCB-4A22-822E-1582D225F75D}" type="pres">
      <dgm:prSet presAssocID="{FCFA5DC5-D07E-4A44-8D0A-97624CFF34C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B462DF1-9B21-47B8-A004-B6A7F9181C6F}" type="pres">
      <dgm:prSet presAssocID="{FCFA5DC5-D07E-4A44-8D0A-97624CFF34C1}" presName="spaceRect" presStyleCnt="0"/>
      <dgm:spPr/>
    </dgm:pt>
    <dgm:pt modelId="{9FC7CDC0-94B5-42DE-BAB3-4395129DC9C0}" type="pres">
      <dgm:prSet presAssocID="{FCFA5DC5-D07E-4A44-8D0A-97624CFF34C1}" presName="textRect" presStyleLbl="revTx" presStyleIdx="2" presStyleCnt="5">
        <dgm:presLayoutVars>
          <dgm:chMax val="1"/>
          <dgm:chPref val="1"/>
        </dgm:presLayoutVars>
      </dgm:prSet>
      <dgm:spPr/>
    </dgm:pt>
    <dgm:pt modelId="{D20C391C-02F1-40F5-BCDA-11577AB91802}" type="pres">
      <dgm:prSet presAssocID="{1CDF169E-BF2A-44E6-9123-1BDEB6E43E88}" presName="sibTrans" presStyleCnt="0"/>
      <dgm:spPr/>
    </dgm:pt>
    <dgm:pt modelId="{680A79FA-F93D-449A-8E40-17455FE33F1C}" type="pres">
      <dgm:prSet presAssocID="{B0DA367B-F04D-490B-A2E0-513A0F327CD3}" presName="compNode" presStyleCnt="0"/>
      <dgm:spPr/>
    </dgm:pt>
    <dgm:pt modelId="{716A5CFF-3B66-48DD-9671-1CAF8CFE2A3C}" type="pres">
      <dgm:prSet presAssocID="{B0DA367B-F04D-490B-A2E0-513A0F327CD3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E5C7542-0097-46B6-A113-688251B01A61}" type="pres">
      <dgm:prSet presAssocID="{B0DA367B-F04D-490B-A2E0-513A0F327CD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B0400D7-F846-4CA9-838F-F52F73CD224B}" type="pres">
      <dgm:prSet presAssocID="{B0DA367B-F04D-490B-A2E0-513A0F327CD3}" presName="spaceRect" presStyleCnt="0"/>
      <dgm:spPr/>
    </dgm:pt>
    <dgm:pt modelId="{55F7DD49-C6A5-45D0-A3AF-02720B233E0F}" type="pres">
      <dgm:prSet presAssocID="{B0DA367B-F04D-490B-A2E0-513A0F327CD3}" presName="textRect" presStyleLbl="revTx" presStyleIdx="3" presStyleCnt="5">
        <dgm:presLayoutVars>
          <dgm:chMax val="1"/>
          <dgm:chPref val="1"/>
        </dgm:presLayoutVars>
      </dgm:prSet>
      <dgm:spPr/>
    </dgm:pt>
    <dgm:pt modelId="{F9833ABD-8C33-4AD0-AAAA-F4D54876ACE5}" type="pres">
      <dgm:prSet presAssocID="{C2519709-B5A1-4182-80D4-40388C490148}" presName="sibTrans" presStyleCnt="0"/>
      <dgm:spPr/>
    </dgm:pt>
    <dgm:pt modelId="{84ADA268-15CB-4AA8-B356-E14A83676974}" type="pres">
      <dgm:prSet presAssocID="{38BEC3D2-3DC2-4B60-8B6C-BAC2236235BD}" presName="compNode" presStyleCnt="0"/>
      <dgm:spPr/>
    </dgm:pt>
    <dgm:pt modelId="{CDEA3E6B-5451-42C5-83A7-7B1B47164E33}" type="pres">
      <dgm:prSet presAssocID="{38BEC3D2-3DC2-4B60-8B6C-BAC2236235BD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D87E7C0-C949-4A96-B514-8CBABA98D086}" type="pres">
      <dgm:prSet presAssocID="{38BEC3D2-3DC2-4B60-8B6C-BAC2236235B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967DB2C-87A4-41A2-B5C5-B3F4E75B6124}" type="pres">
      <dgm:prSet presAssocID="{38BEC3D2-3DC2-4B60-8B6C-BAC2236235BD}" presName="spaceRect" presStyleCnt="0"/>
      <dgm:spPr/>
    </dgm:pt>
    <dgm:pt modelId="{F149CD4B-6F28-43FC-AA21-65ED3087BA09}" type="pres">
      <dgm:prSet presAssocID="{38BEC3D2-3DC2-4B60-8B6C-BAC2236235B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2B84E06-B00D-476C-BF82-7FEBEF1D435F}" type="presOf" srcId="{50431074-EE78-4578-93E1-37DAA828B2AA}" destId="{655A1A06-5C84-48C2-B42E-47A1D3BEF3F9}" srcOrd="0" destOrd="0" presId="urn:microsoft.com/office/officeart/2018/5/layout/IconLeafLabelList"/>
    <dgm:cxn modelId="{1D8BC60D-6E1B-4C96-BD43-01AC639D4BB6}" srcId="{24790922-550D-4479-A996-74B03FB4506A}" destId="{FCFA5DC5-D07E-4A44-8D0A-97624CFF34C1}" srcOrd="2" destOrd="0" parTransId="{DEF8C2F6-CFFA-4C16-A4BC-2BAB6C3D77EE}" sibTransId="{1CDF169E-BF2A-44E6-9123-1BDEB6E43E88}"/>
    <dgm:cxn modelId="{08D18343-1B2C-4575-9930-C43F9675EE8F}" srcId="{24790922-550D-4479-A996-74B03FB4506A}" destId="{B0DA367B-F04D-490B-A2E0-513A0F327CD3}" srcOrd="3" destOrd="0" parTransId="{97C70270-E56B-4CEB-A7B0-FDF0C333CA83}" sibTransId="{C2519709-B5A1-4182-80D4-40388C490148}"/>
    <dgm:cxn modelId="{E3943148-4FAC-4F77-8584-B1487E613988}" srcId="{24790922-550D-4479-A996-74B03FB4506A}" destId="{38BEC3D2-3DC2-4B60-8B6C-BAC2236235BD}" srcOrd="4" destOrd="0" parTransId="{678980AF-3D6C-4661-A8A4-0EB18BD77FAE}" sibTransId="{480B3AAD-9F11-499C-BAA8-19343A478202}"/>
    <dgm:cxn modelId="{48760F69-A5BE-4406-A082-01FD96A8A9E8}" srcId="{24790922-550D-4479-A996-74B03FB4506A}" destId="{D67479A9-B375-40E1-8720-3ED890E3670B}" srcOrd="1" destOrd="0" parTransId="{3606295E-2DDD-4033-89D9-23CE87C5E011}" sibTransId="{0A775BDF-8559-4364-AE1E-FE3B4524BA0E}"/>
    <dgm:cxn modelId="{F8379471-D0E8-4836-B22E-2A0040CF768E}" type="presOf" srcId="{38BEC3D2-3DC2-4B60-8B6C-BAC2236235BD}" destId="{F149CD4B-6F28-43FC-AA21-65ED3087BA09}" srcOrd="0" destOrd="0" presId="urn:microsoft.com/office/officeart/2018/5/layout/IconLeafLabelList"/>
    <dgm:cxn modelId="{B6238783-FD80-4EE4-A4F4-4ACEDD81DE39}" type="presOf" srcId="{B0DA367B-F04D-490B-A2E0-513A0F327CD3}" destId="{55F7DD49-C6A5-45D0-A3AF-02720B233E0F}" srcOrd="0" destOrd="0" presId="urn:microsoft.com/office/officeart/2018/5/layout/IconLeafLabelList"/>
    <dgm:cxn modelId="{9039EDA4-94F3-4961-A222-1B4D2F560352}" type="presOf" srcId="{FCFA5DC5-D07E-4A44-8D0A-97624CFF34C1}" destId="{9FC7CDC0-94B5-42DE-BAB3-4395129DC9C0}" srcOrd="0" destOrd="0" presId="urn:microsoft.com/office/officeart/2018/5/layout/IconLeafLabelList"/>
    <dgm:cxn modelId="{DF8941BE-C1A8-4007-AD8A-458A3538E62C}" type="presOf" srcId="{D67479A9-B375-40E1-8720-3ED890E3670B}" destId="{C9F4B5ED-FAE1-438F-836F-7A023EE7A9A5}" srcOrd="0" destOrd="0" presId="urn:microsoft.com/office/officeart/2018/5/layout/IconLeafLabelList"/>
    <dgm:cxn modelId="{D9C2E7D3-CE5F-4982-9306-2B822DA39078}" srcId="{24790922-550D-4479-A996-74B03FB4506A}" destId="{50431074-EE78-4578-93E1-37DAA828B2AA}" srcOrd="0" destOrd="0" parTransId="{3BEB085E-5DB8-4C3D-8A49-0506BE33D43D}" sibTransId="{D877BF9C-79B0-4C06-9E9A-BA9C96151386}"/>
    <dgm:cxn modelId="{40FDC1E1-3DD2-4EF9-A04E-332F46E3A5E8}" type="presOf" srcId="{24790922-550D-4479-A996-74B03FB4506A}" destId="{BAD677BE-3E78-4708-AACC-3A540C175FFC}" srcOrd="0" destOrd="0" presId="urn:microsoft.com/office/officeart/2018/5/layout/IconLeafLabelList"/>
    <dgm:cxn modelId="{C89C7FF0-2E2E-410D-881E-1D8957E9955E}" type="presParOf" srcId="{BAD677BE-3E78-4708-AACC-3A540C175FFC}" destId="{29B200A0-4E20-49F7-B1C5-8ABF1C9D984A}" srcOrd="0" destOrd="0" presId="urn:microsoft.com/office/officeart/2018/5/layout/IconLeafLabelList"/>
    <dgm:cxn modelId="{19076498-4641-456E-AFCC-C782225490EE}" type="presParOf" srcId="{29B200A0-4E20-49F7-B1C5-8ABF1C9D984A}" destId="{E0C9D29C-2618-4F14-AECA-0DDEC4A2A700}" srcOrd="0" destOrd="0" presId="urn:microsoft.com/office/officeart/2018/5/layout/IconLeafLabelList"/>
    <dgm:cxn modelId="{35E668E2-EB72-4BC2-9B0E-45DA470E28B6}" type="presParOf" srcId="{29B200A0-4E20-49F7-B1C5-8ABF1C9D984A}" destId="{EBC05E46-754B-49B2-8B4A-AB96233444F1}" srcOrd="1" destOrd="0" presId="urn:microsoft.com/office/officeart/2018/5/layout/IconLeafLabelList"/>
    <dgm:cxn modelId="{A76F6CD8-17DD-46CB-8872-67F3840A68AA}" type="presParOf" srcId="{29B200A0-4E20-49F7-B1C5-8ABF1C9D984A}" destId="{E4B9B988-6F0E-4CDC-98FE-2CD56A410B0E}" srcOrd="2" destOrd="0" presId="urn:microsoft.com/office/officeart/2018/5/layout/IconLeafLabelList"/>
    <dgm:cxn modelId="{3528D39C-89E6-4742-BE0D-4A90DCFD0AB4}" type="presParOf" srcId="{29B200A0-4E20-49F7-B1C5-8ABF1C9D984A}" destId="{655A1A06-5C84-48C2-B42E-47A1D3BEF3F9}" srcOrd="3" destOrd="0" presId="urn:microsoft.com/office/officeart/2018/5/layout/IconLeafLabelList"/>
    <dgm:cxn modelId="{621DEA62-9DEC-4B23-8148-BBFA35F4D81C}" type="presParOf" srcId="{BAD677BE-3E78-4708-AACC-3A540C175FFC}" destId="{BA19518A-3F04-42FA-83E0-21D30FB53EB8}" srcOrd="1" destOrd="0" presId="urn:microsoft.com/office/officeart/2018/5/layout/IconLeafLabelList"/>
    <dgm:cxn modelId="{45FDAE2A-0496-4703-BEC7-31E24465F446}" type="presParOf" srcId="{BAD677BE-3E78-4708-AACC-3A540C175FFC}" destId="{F7F9852E-3877-4CCC-A1C9-B811DE95544D}" srcOrd="2" destOrd="0" presId="urn:microsoft.com/office/officeart/2018/5/layout/IconLeafLabelList"/>
    <dgm:cxn modelId="{3B79E96C-BB6D-4422-B841-75849A046460}" type="presParOf" srcId="{F7F9852E-3877-4CCC-A1C9-B811DE95544D}" destId="{EF1087FA-C2D8-4293-8706-5EDF213CCB48}" srcOrd="0" destOrd="0" presId="urn:microsoft.com/office/officeart/2018/5/layout/IconLeafLabelList"/>
    <dgm:cxn modelId="{DB5DAF04-62DC-4A6F-ABF9-2E20B4B28416}" type="presParOf" srcId="{F7F9852E-3877-4CCC-A1C9-B811DE95544D}" destId="{83F88A31-3BE0-4247-A520-B70779B8ADE5}" srcOrd="1" destOrd="0" presId="urn:microsoft.com/office/officeart/2018/5/layout/IconLeafLabelList"/>
    <dgm:cxn modelId="{8990860F-B773-4A2D-9695-C2F5CA3A2DDF}" type="presParOf" srcId="{F7F9852E-3877-4CCC-A1C9-B811DE95544D}" destId="{97692B2F-E7E2-4669-B3F9-F4A6B12A95E8}" srcOrd="2" destOrd="0" presId="urn:microsoft.com/office/officeart/2018/5/layout/IconLeafLabelList"/>
    <dgm:cxn modelId="{17204CF9-AB5A-4CBE-9F62-FDDCC0DA51D5}" type="presParOf" srcId="{F7F9852E-3877-4CCC-A1C9-B811DE95544D}" destId="{C9F4B5ED-FAE1-438F-836F-7A023EE7A9A5}" srcOrd="3" destOrd="0" presId="urn:microsoft.com/office/officeart/2018/5/layout/IconLeafLabelList"/>
    <dgm:cxn modelId="{230182AF-4D71-4492-9D6C-812E46BF7EED}" type="presParOf" srcId="{BAD677BE-3E78-4708-AACC-3A540C175FFC}" destId="{1F728725-CCEE-4B96-95C8-AC4E51D4314E}" srcOrd="3" destOrd="0" presId="urn:microsoft.com/office/officeart/2018/5/layout/IconLeafLabelList"/>
    <dgm:cxn modelId="{532757CC-2EDF-404B-ACDF-7165C0972040}" type="presParOf" srcId="{BAD677BE-3E78-4708-AACC-3A540C175FFC}" destId="{601D2078-A4FF-4740-916A-A9C2E908C9C5}" srcOrd="4" destOrd="0" presId="urn:microsoft.com/office/officeart/2018/5/layout/IconLeafLabelList"/>
    <dgm:cxn modelId="{0E73A170-6D61-4371-AEFF-C4EF6273DCFD}" type="presParOf" srcId="{601D2078-A4FF-4740-916A-A9C2E908C9C5}" destId="{82DE6C44-8DD6-439D-BB04-B01251C17ABE}" srcOrd="0" destOrd="0" presId="urn:microsoft.com/office/officeart/2018/5/layout/IconLeafLabelList"/>
    <dgm:cxn modelId="{A78C2BBD-3775-42B2-A6EE-36216B59B41B}" type="presParOf" srcId="{601D2078-A4FF-4740-916A-A9C2E908C9C5}" destId="{848E553A-6FCB-4A22-822E-1582D225F75D}" srcOrd="1" destOrd="0" presId="urn:microsoft.com/office/officeart/2018/5/layout/IconLeafLabelList"/>
    <dgm:cxn modelId="{A9A31022-2526-4E81-951F-48BB183B6155}" type="presParOf" srcId="{601D2078-A4FF-4740-916A-A9C2E908C9C5}" destId="{CB462DF1-9B21-47B8-A004-B6A7F9181C6F}" srcOrd="2" destOrd="0" presId="urn:microsoft.com/office/officeart/2018/5/layout/IconLeafLabelList"/>
    <dgm:cxn modelId="{C5784A6C-179A-4E0A-9496-A34489BA5C3B}" type="presParOf" srcId="{601D2078-A4FF-4740-916A-A9C2E908C9C5}" destId="{9FC7CDC0-94B5-42DE-BAB3-4395129DC9C0}" srcOrd="3" destOrd="0" presId="urn:microsoft.com/office/officeart/2018/5/layout/IconLeafLabelList"/>
    <dgm:cxn modelId="{D96F71F5-2453-43C3-8AB5-A4E8ED7F12E9}" type="presParOf" srcId="{BAD677BE-3E78-4708-AACC-3A540C175FFC}" destId="{D20C391C-02F1-40F5-BCDA-11577AB91802}" srcOrd="5" destOrd="0" presId="urn:microsoft.com/office/officeart/2018/5/layout/IconLeafLabelList"/>
    <dgm:cxn modelId="{6B364521-C66B-40C2-B374-856F1474B764}" type="presParOf" srcId="{BAD677BE-3E78-4708-AACC-3A540C175FFC}" destId="{680A79FA-F93D-449A-8E40-17455FE33F1C}" srcOrd="6" destOrd="0" presId="urn:microsoft.com/office/officeart/2018/5/layout/IconLeafLabelList"/>
    <dgm:cxn modelId="{4FE0D05C-C4AA-419E-B396-7F649490AC7D}" type="presParOf" srcId="{680A79FA-F93D-449A-8E40-17455FE33F1C}" destId="{716A5CFF-3B66-48DD-9671-1CAF8CFE2A3C}" srcOrd="0" destOrd="0" presId="urn:microsoft.com/office/officeart/2018/5/layout/IconLeafLabelList"/>
    <dgm:cxn modelId="{66EF5305-3277-4423-9713-3254B96DA2F2}" type="presParOf" srcId="{680A79FA-F93D-449A-8E40-17455FE33F1C}" destId="{1E5C7542-0097-46B6-A113-688251B01A61}" srcOrd="1" destOrd="0" presId="urn:microsoft.com/office/officeart/2018/5/layout/IconLeafLabelList"/>
    <dgm:cxn modelId="{AA2B3C85-AB00-49E5-8892-02695D018FD4}" type="presParOf" srcId="{680A79FA-F93D-449A-8E40-17455FE33F1C}" destId="{2B0400D7-F846-4CA9-838F-F52F73CD224B}" srcOrd="2" destOrd="0" presId="urn:microsoft.com/office/officeart/2018/5/layout/IconLeafLabelList"/>
    <dgm:cxn modelId="{E39BED14-E5DD-4522-BCEC-90DCEA930F44}" type="presParOf" srcId="{680A79FA-F93D-449A-8E40-17455FE33F1C}" destId="{55F7DD49-C6A5-45D0-A3AF-02720B233E0F}" srcOrd="3" destOrd="0" presId="urn:microsoft.com/office/officeart/2018/5/layout/IconLeafLabelList"/>
    <dgm:cxn modelId="{4A6B2D57-B3CA-42B8-A58B-4A68A58EE2BE}" type="presParOf" srcId="{BAD677BE-3E78-4708-AACC-3A540C175FFC}" destId="{F9833ABD-8C33-4AD0-AAAA-F4D54876ACE5}" srcOrd="7" destOrd="0" presId="urn:microsoft.com/office/officeart/2018/5/layout/IconLeafLabelList"/>
    <dgm:cxn modelId="{816487BF-2E63-4830-A7C9-BC4F52014E15}" type="presParOf" srcId="{BAD677BE-3E78-4708-AACC-3A540C175FFC}" destId="{84ADA268-15CB-4AA8-B356-E14A83676974}" srcOrd="8" destOrd="0" presId="urn:microsoft.com/office/officeart/2018/5/layout/IconLeafLabelList"/>
    <dgm:cxn modelId="{B1FAB931-6C69-426D-AE6E-4A28965F3716}" type="presParOf" srcId="{84ADA268-15CB-4AA8-B356-E14A83676974}" destId="{CDEA3E6B-5451-42C5-83A7-7B1B47164E33}" srcOrd="0" destOrd="0" presId="urn:microsoft.com/office/officeart/2018/5/layout/IconLeafLabelList"/>
    <dgm:cxn modelId="{9FE13804-1D4E-4105-B691-EBCE10AACA36}" type="presParOf" srcId="{84ADA268-15CB-4AA8-B356-E14A83676974}" destId="{0D87E7C0-C949-4A96-B514-8CBABA98D086}" srcOrd="1" destOrd="0" presId="urn:microsoft.com/office/officeart/2018/5/layout/IconLeafLabelList"/>
    <dgm:cxn modelId="{FCAE4FB2-9537-4FA8-8926-465CD8614778}" type="presParOf" srcId="{84ADA268-15CB-4AA8-B356-E14A83676974}" destId="{E967DB2C-87A4-41A2-B5C5-B3F4E75B6124}" srcOrd="2" destOrd="0" presId="urn:microsoft.com/office/officeart/2018/5/layout/IconLeafLabelList"/>
    <dgm:cxn modelId="{3824DCF3-9791-4B7E-B638-0FB44B90A254}" type="presParOf" srcId="{84ADA268-15CB-4AA8-B356-E14A83676974}" destId="{F149CD4B-6F28-43FC-AA21-65ED3087BA0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9D29C-2618-4F14-AECA-0DDEC4A2A700}">
      <dsp:nvSpPr>
        <dsp:cNvPr id="0" name=""/>
        <dsp:cNvSpPr/>
      </dsp:nvSpPr>
      <dsp:spPr>
        <a:xfrm>
          <a:off x="68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05E46-754B-49B2-8B4A-AB96233444F1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A1A06-5C84-48C2-B42E-47A1D3BEF3F9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Multi-stage memory capture reveals full attack lifecycle</a:t>
          </a:r>
          <a:endParaRPr lang="en-US" sz="1200" kern="1200"/>
        </a:p>
      </dsp:txBody>
      <dsp:txXfrm>
        <a:off x="333914" y="2456402"/>
        <a:ext cx="1800000" cy="720000"/>
      </dsp:txXfrm>
    </dsp:sp>
    <dsp:sp modelId="{EF1087FA-C2D8-4293-8706-5EDF213CCB48}">
      <dsp:nvSpPr>
        <dsp:cNvPr id="0" name=""/>
        <dsp:cNvSpPr/>
      </dsp:nvSpPr>
      <dsp:spPr>
        <a:xfrm>
          <a:off x="279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88A31-3BE0-4247-A520-B70779B8ADE5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4B5ED-FAE1-438F-836F-7A023EE7A9A5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Handles + DLLs often expose more than process lists</a:t>
          </a:r>
          <a:endParaRPr lang="en-US" sz="1200" kern="1200"/>
        </a:p>
      </dsp:txBody>
      <dsp:txXfrm>
        <a:off x="2448914" y="2456402"/>
        <a:ext cx="1800000" cy="720000"/>
      </dsp:txXfrm>
    </dsp:sp>
    <dsp:sp modelId="{82DE6C44-8DD6-439D-BB04-B01251C17ABE}">
      <dsp:nvSpPr>
        <dsp:cNvPr id="0" name=""/>
        <dsp:cNvSpPr/>
      </dsp:nvSpPr>
      <dsp:spPr>
        <a:xfrm>
          <a:off x="491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8E553A-6FCB-4A22-822E-1582D225F75D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7CDC0-94B5-42DE-BAB3-4395129DC9C0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LSASS access always leaves forensic evidence</a:t>
          </a:r>
          <a:endParaRPr lang="en-US" sz="1200" kern="1200"/>
        </a:p>
      </dsp:txBody>
      <dsp:txXfrm>
        <a:off x="4563914" y="2456402"/>
        <a:ext cx="1800000" cy="720000"/>
      </dsp:txXfrm>
    </dsp:sp>
    <dsp:sp modelId="{716A5CFF-3B66-48DD-9671-1CAF8CFE2A3C}">
      <dsp:nvSpPr>
        <dsp:cNvPr id="0" name=""/>
        <dsp:cNvSpPr/>
      </dsp:nvSpPr>
      <dsp:spPr>
        <a:xfrm>
          <a:off x="702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C7542-0097-46B6-A113-688251B01A61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7DD49-C6A5-45D0-A3AF-02720B233E0F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Memory forensics essential when attackers clean up tools</a:t>
          </a:r>
          <a:endParaRPr lang="en-US" sz="1200" kern="1200"/>
        </a:p>
      </dsp:txBody>
      <dsp:txXfrm>
        <a:off x="6678914" y="2456402"/>
        <a:ext cx="1800000" cy="720000"/>
      </dsp:txXfrm>
    </dsp:sp>
    <dsp:sp modelId="{CDEA3E6B-5451-42C5-83A7-7B1B47164E33}">
      <dsp:nvSpPr>
        <dsp:cNvPr id="0" name=""/>
        <dsp:cNvSpPr/>
      </dsp:nvSpPr>
      <dsp:spPr>
        <a:xfrm>
          <a:off x="914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7E7C0-C949-4A96-B514-8CBABA98D086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9CD4B-6F28-43FC-AA21-65ED3087BA09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Volatility 3 required for modern Windows OS structures</a:t>
          </a:r>
          <a:endParaRPr lang="en-US" sz="1200" kern="1200"/>
        </a:p>
      </dsp:txBody>
      <dsp:txXfrm>
        <a:off x="8793914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8D98-1A8D-C84C-A903-DC3A44F22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ED970-8D00-1BEC-92C4-8AE831D18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2A35A-1FED-2885-1EDC-6282A3D3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FC60D-DC84-75DD-29A7-C0698FFC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8D10-EC1D-ABA9-8017-AFFFFBCF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063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A683-B3BA-A0BD-8035-75F5824D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52F94-E2F4-FCB4-00C2-1E8A574AA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3CCEB-6C1A-B4A3-1527-FA248095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FAEF5-EA9D-DE93-6F1A-80727913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79ECD-FB9D-E5E5-6F9C-0A10B666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691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FE8C-520F-E619-E8DE-3FB0E475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597B7-FA8F-613D-71B3-E7A39A9B1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B5CE5-DC3E-C766-DE4A-B9E67A09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9F690-F0E0-505F-7FD2-77E97566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513F7-646F-304A-531D-A35A7EAD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324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7A0D-4DB3-DB51-BA35-23EF9A23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ECE-6A5B-01B7-AD6C-C1CE180F2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3B9A1-93A9-4C9F-F5C4-5DFD88EF7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DF043-5760-F5FA-5C3B-ABFC410D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07BF1-48D9-64CD-1371-1233AD23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A34C2-75A4-213F-A641-6795B391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895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05E4D-6213-E78A-FEA5-C22C3D19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A4390-6D53-36AE-CCBE-9F5C7B8F4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9B5C6-AD37-8BF5-077B-CC8339727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A56FC-9A4D-7320-23E8-0350B4922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A015C-E4C9-F2E6-9EF7-9DEA27560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B0FBB-010B-561E-E77F-E6D72A34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003E9-FA41-9039-F8AE-0B4C5110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BD80F-8076-5D05-FB30-5E7F9F5A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2454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8E68-36FD-A93B-D384-FA7B00128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401BB-2181-96A0-03BF-4A424578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B94D4-6A1C-13FB-D4CA-56CE0BFE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13753-986B-FA6E-B31A-9CE510CF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619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4DFFE-D7EC-7F75-B68C-343815D3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17CAA-812F-8B76-CE5C-5F11175F6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FA979-603D-75AB-0954-0C267B7B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536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4D8D-EB3B-6F03-BCF3-ACB1847C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44376-04E6-8B5B-D000-F7B9DBC9B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A60DC-F8F0-6174-494F-FFFA445F7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0D393-45FF-43CC-C38B-5D8A2FD9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14B49-4876-B913-1FC9-7D50D1639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3D186-0987-0365-BE0C-534A9860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581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9355-5283-D692-DFCC-7A91F7538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67DF7D-7977-1B21-89C9-07F6C57A4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68F6C-E8B4-A2AA-35EA-ABB98FAFA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A2BF6-566F-3579-5228-4C46FAC6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990B2-B3B0-0DCE-574B-18C47580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DA878-1869-72FD-7436-35827D4A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0216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5D80-FD27-E042-32C0-A6BD5DA0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5252E-DC22-45EE-6F47-FFA50CCFB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C1A57-D0BB-C82D-ECE0-9CC8EC3F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71644-6DCC-909D-F4CC-BABC67F13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A2271-937D-2753-7640-1FF1AE74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300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3721A-488F-10A3-511D-594DD86DC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B161F-400C-95D8-BE5F-7FFEF0D7D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B57A1-EE54-9EBB-1F7C-9ECFD9A5B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2126F-F1DB-EC55-DC74-C36B20F8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0CDE4-0B2E-ECE9-D41A-6D3E5D0B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366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74BA39-2C28-7439-B259-49DCAE6A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E442F-D5BB-909C-1BB6-DCF895644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24419-7EFD-B5EA-60DB-2DD75D31B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66C88-4B2E-4877-AF8F-66E5398DC27B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18A88-FC6E-6E8A-B6B3-AB358C87F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A46A2-F8DF-913F-1357-A40D164C2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9A1E3-06D6-434B-B963-BBAB98675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504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24EE2-1430-A73B-2F5A-F480A60DC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Memory Forensics Investigation: Credential Theft &amp; Attack Reconstruction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D9EDF-55D1-2312-D9E4-4B2F784E4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700" dirty="0"/>
              <a:t>Team:</a:t>
            </a:r>
          </a:p>
          <a:p>
            <a:pPr algn="l"/>
            <a:r>
              <a:rPr lang="en-US" sz="1700" dirty="0"/>
              <a:t>Devarshi Mahadevwala | Jay Patel | Jay Joshi | Kedar Dave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Simulated real-world </a:t>
            </a:r>
            <a:r>
              <a:rPr lang="en-US" sz="1700" dirty="0" err="1"/>
              <a:t>Mimikatz</a:t>
            </a:r>
            <a:r>
              <a:rPr lang="en-US" sz="1700" dirty="0"/>
              <a:t> credential-theft attack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Acquired three memory dumps (pre-attack, active attack, post-attack)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Deep forensic investigation using Volatility 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Reconstructed malicious process chains, LSASS access, and memory dumping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Produced complete incident timeline + cross-dump comparison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97565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9E1C6-B1C2-6356-3143-3796F05F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High-Level Project Architecture &amp; Workflow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BE388FEE-DF05-9E7F-9A86-FF81621173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701" y="511293"/>
            <a:ext cx="279034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5B48B-DDCD-5496-B7D6-D63512A87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/>
              <a:t>Two-VM isolated lab (Kali attacker + Windows victim)</a:t>
            </a:r>
          </a:p>
          <a:p>
            <a:r>
              <a:rPr lang="en-US" sz="2600"/>
              <a:t>Host-Only network prevents external exposure</a:t>
            </a:r>
          </a:p>
          <a:p>
            <a:r>
              <a:rPr lang="en-US" sz="2600"/>
              <a:t>Workflow: Setup → Attack → Memory Acquisition → Forensics → Comparison</a:t>
            </a:r>
          </a:p>
          <a:p>
            <a:r>
              <a:rPr lang="en-US" sz="2600"/>
              <a:t>Each memory dump analyzed chronologically to reconstruct the attack</a:t>
            </a:r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2991216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912D6-B1A7-D42C-9EF6-FABF3E88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Verifying Host-Only Network Communication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A2590-C24C-F497-CF85-5257E6730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Validates attacker ↔ victim communication</a:t>
            </a:r>
          </a:p>
          <a:p>
            <a:r>
              <a:rPr lang="en-US" sz="1800"/>
              <a:t>Required for tool delivery (DumpIt, Mimikatz)</a:t>
            </a:r>
          </a:p>
          <a:p>
            <a:r>
              <a:rPr lang="en-US" sz="1800"/>
              <a:t>Ensures full isolation from real networks</a:t>
            </a:r>
          </a:p>
          <a:p>
            <a:pPr marL="0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218F9134-67DF-81CE-35A7-1ADD39162D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335724"/>
            <a:ext cx="5628018" cy="395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1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D341B-847B-B04C-4063-389A85EC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Ensuring a Controlled Forensic Environment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A347BD29-E41F-C068-6D8B-DF700966DE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95" y="3242338"/>
            <a:ext cx="5150277" cy="227899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C674710-FF9B-6553-D9B8-2C76B2C8B53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406429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No internet connectivity on either VM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Prevents accidental external traffic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Confirms lab is fully contained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15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C7B0F-A3C9-65D0-69AF-DEC3F8FF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Attack Tool Delivery via HTTP Server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F3BAF9-29E0-D557-F79B-449855939E2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Kali hosts a Python HTTP server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Victim downloads DumpIt &amp; Mimikatz from attacker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Demonstrates the initial attack staging phase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652C88-3902-31FE-D977-02E043B0C7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230198"/>
            <a:ext cx="5628018" cy="416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0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D1046-CF83-7349-0EFE-A4DAD6564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Capturing a Clean Baseline Memory Image</a:t>
            </a: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8EAFFBC-BE77-29FD-78A5-7153684BA6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357" y="3445920"/>
            <a:ext cx="3533985" cy="187301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C55C3F0-64C1-C79C-3B22-5A16C0E668D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255260" y="2998278"/>
            <a:ext cx="4238257" cy="27281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DumpIt executed before any malicious activity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Provides a “known good” memory state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Crucial reference for later forensic comparison</a:t>
            </a:r>
          </a:p>
        </p:txBody>
      </p:sp>
    </p:spTree>
    <p:extLst>
      <p:ext uri="{BB962C8B-B14F-4D97-AF65-F5344CB8AC3E}">
        <p14:creationId xmlns:p14="http://schemas.microsoft.com/office/powerpoint/2010/main" val="486289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B6619-5D32-7E7C-9752-9C8CBCE84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Credentials Targeted via Mimikatz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4BC201E-B52E-D6FC-AAC8-AF0C972F943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36397" y="2418408"/>
            <a:ext cx="4959603" cy="35225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Executed interactively via cmd.exe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Attempted LSASS credential extraction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Even without plaintext, LSASS access artifacts persist in memory</a:t>
            </a:r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5E339BF-4DA7-F007-A27E-14E8337F95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576" y="489118"/>
            <a:ext cx="4782754" cy="5466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2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3BECA0-B96F-7A0B-FD1D-F350D16BB8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5" y="861128"/>
            <a:ext cx="5474323" cy="5132176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9378C-2CC4-2319-1E02-10455837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33" y="1188637"/>
            <a:ext cx="4218138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Capturing Memory During Active Compromise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4134B31-1CCB-456D-AA1F-796E7747EB3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889832" y="2998278"/>
            <a:ext cx="4114773" cy="1893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DumpIt executed while Mimikatz + console chain running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Stores volatile attacker behavior (LSASS handles, process hierarchy)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Most forensically rich memory capture</a:t>
            </a:r>
          </a:p>
        </p:txBody>
      </p:sp>
    </p:spTree>
    <p:extLst>
      <p:ext uri="{BB962C8B-B14F-4D97-AF65-F5344CB8AC3E}">
        <p14:creationId xmlns:p14="http://schemas.microsoft.com/office/powerpoint/2010/main" val="183622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8A0F-071E-D1B0-7D2A-68022401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Unique Hashes Confirm Distinct Memory States</a:t>
            </a:r>
          </a:p>
        </p:txBody>
      </p:sp>
      <p:pic>
        <p:nvPicPr>
          <p:cNvPr id="7" name="Content Placeholder 6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D1F9E318-2281-7321-575E-CF6A92E874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18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BFDA8B8-60DE-B6CA-1125-3808E4B4C1F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23982" y="3752850"/>
            <a:ext cx="7485413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SHA-256 used to validate image integrity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Confirms dumps are unique (no accidental duplicates)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Required for forensic chain-of-custody</a:t>
            </a:r>
          </a:p>
        </p:txBody>
      </p:sp>
    </p:spTree>
    <p:extLst>
      <p:ext uri="{BB962C8B-B14F-4D97-AF65-F5344CB8AC3E}">
        <p14:creationId xmlns:p14="http://schemas.microsoft.com/office/powerpoint/2010/main" val="2169621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2AE22-E9F1-E9E4-2F46-F98D038C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Clean System State Reconstruction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B9CE9F-0F02-5CF8-4383-04D954E32F7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pslist shows only legitimate Windows processes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pstree reveals normal explorer.exe hierarchy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No interaction with LSASS or attacker tools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Establishes the system’s untouched condition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349EAD-29B2-B2A7-853B-3BB437EC74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342759"/>
            <a:ext cx="5628018" cy="393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33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4C74C1C-EF2E-40CF-A712-656E694E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3DA27-1DA5-5603-ABBA-C39AC3BEE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83" y="349664"/>
            <a:ext cx="5845571" cy="1638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Process Tree Linking Attacker Activity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644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998176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5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0257137-6BB0-FCEF-01BB-BC65D7934C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10" y="945021"/>
            <a:ext cx="4235516" cy="471923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D9D3AB6-9D7B-7A3F-FEA8-B8FDCED3213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766262" y="2620641"/>
            <a:ext cx="5837750" cy="30237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explorer.exe → cmd.exe → conhost.exe → mimikatz.exe / DumpIt.exe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Shows interactive hands-on-keyboard activity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Confirms malicious binaries initiated by user session</a:t>
            </a:r>
          </a:p>
        </p:txBody>
      </p:sp>
    </p:spTree>
    <p:extLst>
      <p:ext uri="{BB962C8B-B14F-4D97-AF65-F5344CB8AC3E}">
        <p14:creationId xmlns:p14="http://schemas.microsoft.com/office/powerpoint/2010/main" val="2746370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A95BB-3D5B-8BA3-8ECF-DE6D1792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/>
              <a:t>Mimikatz Access to LSASS Confirmed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DEAE36C-A9B4-2831-41C3-77F887E3AFB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45029" y="2524721"/>
            <a:ext cx="4991629" cy="3677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handles output shows mimikatz.exe opening LSASS with PROCESS_ALL_ACCESS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Strongest forensic indicator of credential theft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LSASS interaction persists even when plaintext passwords don’t appear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4AF997-4867-7B2B-4142-585387D30D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066" y="1795964"/>
            <a:ext cx="4305905" cy="40906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B88293-2B60-BFFC-6C68-D98F7A190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066" y="4684629"/>
            <a:ext cx="4305905" cy="355237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381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62C87B-205C-4719-AC60-AF13E94F1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322626"/>
            <a:ext cx="5772560" cy="6212748"/>
          </a:xfrm>
          <a:custGeom>
            <a:avLst/>
            <a:gdLst>
              <a:gd name="connsiteX0" fmla="*/ 0 w 5772560"/>
              <a:gd name="connsiteY0" fmla="*/ 0 h 6212748"/>
              <a:gd name="connsiteX1" fmla="*/ 1448661 w 5772560"/>
              <a:gd name="connsiteY1" fmla="*/ 0 h 6212748"/>
              <a:gd name="connsiteX2" fmla="*/ 1940557 w 5772560"/>
              <a:gd name="connsiteY2" fmla="*/ 0 h 6212748"/>
              <a:gd name="connsiteX3" fmla="*/ 5772560 w 5772560"/>
              <a:gd name="connsiteY3" fmla="*/ 0 h 6212748"/>
              <a:gd name="connsiteX4" fmla="*/ 5772560 w 5772560"/>
              <a:gd name="connsiteY4" fmla="*/ 2864954 h 6212748"/>
              <a:gd name="connsiteX5" fmla="*/ 2329115 w 5772560"/>
              <a:gd name="connsiteY5" fmla="*/ 6212748 h 6212748"/>
              <a:gd name="connsiteX6" fmla="*/ 1940557 w 5772560"/>
              <a:gd name="connsiteY6" fmla="*/ 6212748 h 6212748"/>
              <a:gd name="connsiteX7" fmla="*/ 1448661 w 5772560"/>
              <a:gd name="connsiteY7" fmla="*/ 6212748 h 6212748"/>
              <a:gd name="connsiteX8" fmla="*/ 0 w 5772560"/>
              <a:gd name="connsiteY8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2560" h="6212748">
                <a:moveTo>
                  <a:pt x="0" y="0"/>
                </a:moveTo>
                <a:lnTo>
                  <a:pt x="1448661" y="0"/>
                </a:lnTo>
                <a:lnTo>
                  <a:pt x="1940557" y="0"/>
                </a:lnTo>
                <a:lnTo>
                  <a:pt x="5772560" y="0"/>
                </a:lnTo>
                <a:lnTo>
                  <a:pt x="5772560" y="2864954"/>
                </a:lnTo>
                <a:lnTo>
                  <a:pt x="2329115" y="6212748"/>
                </a:lnTo>
                <a:lnTo>
                  <a:pt x="1940557" y="6212748"/>
                </a:lnTo>
                <a:lnTo>
                  <a:pt x="1448661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0EE0A-B862-1E1C-7082-E8D6949A5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46" y="1188637"/>
            <a:ext cx="4546725" cy="16428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Proof of Full System Memory Extraction</a:t>
            </a:r>
          </a:p>
        </p:txBody>
      </p:sp>
      <p:pic>
        <p:nvPicPr>
          <p:cNvPr id="7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439AC85-4CDF-9C5C-DA52-1E7BB1CEB8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54" y="757711"/>
            <a:ext cx="4948731" cy="532121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424B41D-D712-1BB9-A037-608E922B33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578932" y="3086513"/>
            <a:ext cx="3630543" cy="20565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DumpIt.exe opens \Device\KsecDD (kernel cryptographic driver)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Indicates privileged low-level memory access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Confirms attacker performed full RAM dump</a:t>
            </a:r>
          </a:p>
        </p:txBody>
      </p:sp>
    </p:spTree>
    <p:extLst>
      <p:ext uri="{BB962C8B-B14F-4D97-AF65-F5344CB8AC3E}">
        <p14:creationId xmlns:p14="http://schemas.microsoft.com/office/powerpoint/2010/main" val="2146523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21A6A-D992-6DCA-37BA-AA626323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DLL Loading Confirms Attacker Console Session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E93F0E-D8DE-F9E8-48DC-6ED096D0D96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61802" y="2743200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conhost.exe loads modules used in attacker activity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Shares DLL footprint with DumpIt &amp; Mimikatz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Proves GUI → cmd → console chain used for execution</a:t>
            </a:r>
          </a:p>
        </p:txBody>
      </p:sp>
      <p:pic>
        <p:nvPicPr>
          <p:cNvPr id="13" name="Content Placeholder 12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AB95F9E7-F24D-3B81-366A-BEE3292D95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" r="626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58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E4935D0D-E20E-4055-B7E8-DB9A74346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6D98247-274C-4F2C-9D84-97766CA07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6962" y="0"/>
            <a:ext cx="7465038" cy="6858000"/>
          </a:xfrm>
          <a:prstGeom prst="rect">
            <a:avLst/>
          </a:prstGeom>
          <a:ln>
            <a:noFill/>
          </a:ln>
          <a:effectLst>
            <a:outerShdw blurRad="393700" dist="330200" dir="8820000" sx="90000" sy="90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CD56F-9F7A-DDA1-B743-FB2BF818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360" y="762001"/>
            <a:ext cx="5623184" cy="170515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Phase 3 — Multi-Artifact Correlation During the Attack</a:t>
            </a:r>
          </a:p>
        </p:txBody>
      </p:sp>
      <p:pic>
        <p:nvPicPr>
          <p:cNvPr id="7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2207EDD-02BA-DE42-29F0-5F0BE65128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20" y="2017834"/>
            <a:ext cx="2948795" cy="390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CBF8F-9971-504E-0C90-15DA342E7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20" y="3243740"/>
            <a:ext cx="2948795" cy="3169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C5B7B6-3D71-E2CE-33DC-EFF08E0AF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20" y="4395926"/>
            <a:ext cx="2948795" cy="3022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7D833FB-D95D-CCB1-25D7-D8EF7BDBC17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333360" y="2467155"/>
            <a:ext cx="5623177" cy="37698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pslist + pstree confirm malicious execution path: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explorer.exe → cmd.exe → conhost.exe → mimikatz.exe / DumpIt.exe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handles output links mimikatz.exe directly to LSASS credential structures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DumpIt kernel handles prove attacker obtained raw memory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dlllist confirms attacker binaries were loaded in the same console session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Correlating these artifacts transforms raw data into a complete attack narrative</a:t>
            </a:r>
          </a:p>
        </p:txBody>
      </p:sp>
    </p:spTree>
    <p:extLst>
      <p:ext uri="{BB962C8B-B14F-4D97-AF65-F5344CB8AC3E}">
        <p14:creationId xmlns:p14="http://schemas.microsoft.com/office/powerpoint/2010/main" val="4162850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FE2D22C-409B-48AF-B24F-7988A8F7F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3944B-D0BA-E594-EBCC-2A02F353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83" y="349664"/>
            <a:ext cx="5845571" cy="1638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Evidence That Persists After Attacker Cleanup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644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998176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5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7F3255C-ED02-CC58-573D-016A421374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2" r="3" b="521"/>
          <a:stretch>
            <a:fillRect/>
          </a:stretch>
        </p:blipFill>
        <p:spPr>
          <a:xfrm>
            <a:off x="535110" y="627954"/>
            <a:ext cx="4235516" cy="535337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48A7815-5323-3A73-F5CA-42812F55A3F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766262" y="2620641"/>
            <a:ext cx="5837750" cy="30237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mimikatz.exe no longer running, but explorer still references its folder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DumpIt continues to hold privileged kernel handles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Residual artifacts prove malicious activity even after tool termination</a:t>
            </a:r>
          </a:p>
        </p:txBody>
      </p:sp>
    </p:spTree>
    <p:extLst>
      <p:ext uri="{BB962C8B-B14F-4D97-AF65-F5344CB8AC3E}">
        <p14:creationId xmlns:p14="http://schemas.microsoft.com/office/powerpoint/2010/main" val="4235748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213A-6048-CD89-350F-E0770185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Pre-Attack vs During-Attack vs Post-Attack Comparison</a:t>
            </a:r>
            <a:endParaRPr lang="en-CA" dirty="0"/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2A88AA3-9AFD-6B43-6D72-233893FE3A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5181600" cy="4348355"/>
          </a:xfr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D8741BF-8A73-266C-3377-06BC922B10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26075313"/>
              </p:ext>
            </p:extLst>
          </p:nvPr>
        </p:nvGraphicFramePr>
        <p:xfrm>
          <a:off x="5510948" y="1690689"/>
          <a:ext cx="6535812" cy="43483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9437">
                  <a:extLst>
                    <a:ext uri="{9D8B030D-6E8A-4147-A177-3AD203B41FA5}">
                      <a16:colId xmlns:a16="http://schemas.microsoft.com/office/drawing/2014/main" val="2794523558"/>
                    </a:ext>
                  </a:extLst>
                </a:gridCol>
                <a:gridCol w="1401880">
                  <a:extLst>
                    <a:ext uri="{9D8B030D-6E8A-4147-A177-3AD203B41FA5}">
                      <a16:colId xmlns:a16="http://schemas.microsoft.com/office/drawing/2014/main" val="2005245500"/>
                    </a:ext>
                  </a:extLst>
                </a:gridCol>
                <a:gridCol w="1805437">
                  <a:extLst>
                    <a:ext uri="{9D8B030D-6E8A-4147-A177-3AD203B41FA5}">
                      <a16:colId xmlns:a16="http://schemas.microsoft.com/office/drawing/2014/main" val="1610916017"/>
                    </a:ext>
                  </a:extLst>
                </a:gridCol>
                <a:gridCol w="2329058">
                  <a:extLst>
                    <a:ext uri="{9D8B030D-6E8A-4147-A177-3AD203B41FA5}">
                      <a16:colId xmlns:a16="http://schemas.microsoft.com/office/drawing/2014/main" val="3835695620"/>
                    </a:ext>
                  </a:extLst>
                </a:gridCol>
              </a:tblGrid>
              <a:tr h="2347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Process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Pre-attack dump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During-attack dump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Post-attack dump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extLst>
                  <a:ext uri="{0D108BD9-81ED-4DB2-BD59-A6C34878D82A}">
                    <a16:rowId xmlns:a16="http://schemas.microsoft.com/office/drawing/2014/main" val="3646296987"/>
                  </a:ext>
                </a:extLst>
              </a:tr>
              <a:tr h="4601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explorer.exe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Present, parent userinit, no link to attack tools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Present; parent of cmd.exe that launches tools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Present; still holds handles to Mimikatz directory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extLst>
                  <a:ext uri="{0D108BD9-81ED-4DB2-BD59-A6C34878D82A}">
                    <a16:rowId xmlns:a16="http://schemas.microsoft.com/office/drawing/2014/main" val="3354267033"/>
                  </a:ext>
                </a:extLst>
              </a:tr>
              <a:tr h="685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cmd.exe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Not present or only short-lived baseline activity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 as child of explorer.exe; parent of conhost.exe and attacker tools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May still be present with conhost.exe and DumpIt chain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extLst>
                  <a:ext uri="{0D108BD9-81ED-4DB2-BD59-A6C34878D82A}">
                    <a16:rowId xmlns:a16="http://schemas.microsoft.com/office/drawing/2014/main" val="1266894686"/>
                  </a:ext>
                </a:extLst>
              </a:tr>
              <a:tr h="685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conhost.exe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 dirty="0">
                          <a:effectLst/>
                        </a:rPr>
                        <a:t>Only generic console hosts (if any)</a:t>
                      </a:r>
                      <a:endParaRPr lang="en-CA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Specific instance associated with cmd.exe, child for DumpIt.exe / mimikatz.exe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Associated with cmd.exe / DumpIt.exe, but no active mimikatz.exe child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extLst>
                  <a:ext uri="{0D108BD9-81ED-4DB2-BD59-A6C34878D82A}">
                    <a16:rowId xmlns:a16="http://schemas.microsoft.com/office/drawing/2014/main" val="757439916"/>
                  </a:ext>
                </a:extLst>
              </a:tr>
              <a:tr h="685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DumpIt.exe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Absent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Present; child of cmd.exe; holds KsecDD and disk handles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 or recently exited; still has kernel-level and tool directory handles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extLst>
                  <a:ext uri="{0D108BD9-81ED-4DB2-BD59-A6C34878D82A}">
                    <a16:rowId xmlns:a16="http://schemas.microsoft.com/office/drawing/2014/main" val="851998783"/>
                  </a:ext>
                </a:extLst>
              </a:tr>
              <a:tr h="685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mimikatz.exe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Absent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Present; child of cmd.exe / conhost.exe; opens LSASS handles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No longer listed as a running process, but handles and explorer references remain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extLst>
                  <a:ext uri="{0D108BD9-81ED-4DB2-BD59-A6C34878D82A}">
                    <a16:rowId xmlns:a16="http://schemas.microsoft.com/office/drawing/2014/main" val="523064641"/>
                  </a:ext>
                </a:extLst>
              </a:tr>
              <a:tr h="9110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lsass.exe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 with normal handles and DLLs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>
                          <a:effectLst/>
                        </a:rPr>
                        <a:t>Present; targeted by mimikatz.exe handles and possibly by DumpIt via full memory access</a:t>
                      </a:r>
                      <a:endParaRPr lang="en-CA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800" kern="100" dirty="0">
                          <a:effectLst/>
                        </a:rPr>
                        <a:t>Present; shows no crash but continues normal activity after being accessed</a:t>
                      </a:r>
                      <a:endParaRPr lang="en-CA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" marR="6527" marT="6527" marB="6527" anchor="ctr"/>
                </a:tc>
                <a:extLst>
                  <a:ext uri="{0D108BD9-81ED-4DB2-BD59-A6C34878D82A}">
                    <a16:rowId xmlns:a16="http://schemas.microsoft.com/office/drawing/2014/main" val="830272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906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1F1B6-B4CF-2EB9-8F31-EC932786E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4000">
                <a:solidFill>
                  <a:srgbClr val="FFFFFF"/>
                </a:solidFill>
              </a:rPr>
              <a:t>Lessons Learned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412C752-6A33-2CCE-5555-065C2F50C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4133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272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4171F-DCC9-D8F5-58B0-F6D0DBC16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tx1">
                    <a:lumMod val="85000"/>
                    <a:lumOff val="15000"/>
                  </a:schemeClr>
                </a:solidFill>
              </a:rPr>
              <a:t>Challenges Faced &amp; How They Were Resolved</a:t>
            </a:r>
            <a:endParaRPr lang="en-CA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F1DAE-F024-A4C9-B958-BE25289D90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7987" y="2431765"/>
            <a:ext cx="8276026" cy="332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Volatility 2 incompatibility → migrated to Vol3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Kali disk-space failures → VM expansion + snapshot cleanup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Failed memory transfers → fixed via sha256 validation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Mimikatz plaintext inconsistencies → relied on LSASS handle forensics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Network instability → strict Host-Only configuration restored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82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5F371-EB4E-2A2F-E83C-85022383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CA" sz="480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72062C-301D-7E0B-46AF-AEA0C3DE2F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Successfully reconstructed full credential-theft attack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Identified attacker execution path and LSASS compromise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Three-dump comparison produced complete incident narrative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Demonstrates advanced DFIR capability suitable for portfolio / resume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End-to-end lab fully replicates real-world IR workflow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674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896</Words>
  <Application>Microsoft Office PowerPoint</Application>
  <PresentationFormat>Widescreen</PresentationFormat>
  <Paragraphs>120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Memory Forensics Investigation: Credential Theft &amp; Attack Reconstruction</vt:lpstr>
      <vt:lpstr>High-Level Project Architecture &amp; Workflow</vt:lpstr>
      <vt:lpstr>Verifying Host-Only Network Communication</vt:lpstr>
      <vt:lpstr>Ensuring a Controlled Forensic Environment</vt:lpstr>
      <vt:lpstr>Attack Tool Delivery via HTTP Server</vt:lpstr>
      <vt:lpstr>Capturing a Clean Baseline Memory Image</vt:lpstr>
      <vt:lpstr>Credentials Targeted via Mimikatz</vt:lpstr>
      <vt:lpstr>Capturing Memory During Active Compromise</vt:lpstr>
      <vt:lpstr>Unique Hashes Confirm Distinct Memory States</vt:lpstr>
      <vt:lpstr>Clean System State Reconstruction</vt:lpstr>
      <vt:lpstr>Process Tree Linking Attacker Activity</vt:lpstr>
      <vt:lpstr>Mimikatz Access to LSASS Confirmed</vt:lpstr>
      <vt:lpstr>Proof of Full System Memory Extraction</vt:lpstr>
      <vt:lpstr>DLL Loading Confirms Attacker Console Session</vt:lpstr>
      <vt:lpstr>Phase 3 — Multi-Artifact Correlation During the Attack</vt:lpstr>
      <vt:lpstr>Evidence That Persists After Attacker Cleanup</vt:lpstr>
      <vt:lpstr>Pre-Attack vs During-Attack vs Post-Attack Comparison</vt:lpstr>
      <vt:lpstr>Lessons Learned</vt:lpstr>
      <vt:lpstr>Challenges Faced &amp; How They Were Resolved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Devarshi Bhupeshbhai Mahadevwala</dc:creator>
  <cp:lastModifiedBy>Devarshi Bhupeshbhai Mahadevwala</cp:lastModifiedBy>
  <cp:revision>1</cp:revision>
  <dcterms:created xsi:type="dcterms:W3CDTF">2025-12-05T00:13:59Z</dcterms:created>
  <dcterms:modified xsi:type="dcterms:W3CDTF">2025-12-05T01:04:17Z</dcterms:modified>
</cp:coreProperties>
</file>